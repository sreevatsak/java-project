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48c9ab3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48c9ab322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48c9ab3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48c9ab32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6e8ac43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56e8ac434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8.jpg"/><Relationship Id="rId5" Type="http://schemas.openxmlformats.org/officeDocument/2006/relationships/image" Target="../media/image17.png"/><Relationship Id="rId6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69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160000" dist="19050">
              <a:srgbClr val="000000">
                <a:alpha val="70000"/>
              </a:srgbClr>
            </a:outerShdw>
          </a:effectLst>
        </p:spPr>
      </p:pic>
      <p:sp>
        <p:nvSpPr>
          <p:cNvPr id="85" name="Google Shape;85;p13"/>
          <p:cNvSpPr txBox="1"/>
          <p:nvPr/>
        </p:nvSpPr>
        <p:spPr>
          <a:xfrm>
            <a:off x="-606025" y="1689601"/>
            <a:ext cx="7887300" cy="173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5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E-Learning </a:t>
            </a:r>
            <a:endParaRPr b="1" i="0" sz="56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5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-96163" y="3674737"/>
            <a:ext cx="6867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Scalable </a:t>
            </a:r>
            <a:r>
              <a:rPr b="1" lang="en-US" sz="12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Web Application </a:t>
            </a:r>
            <a:r>
              <a:rPr b="1" i="0" lang="en-US" sz="125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using Java, Spring Boot, and MySQL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23412" y="5871487"/>
            <a:ext cx="6867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  <a:endParaRPr sz="1300" u="sng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23400" y="6178526"/>
            <a:ext cx="7887300" cy="26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Kottapalli Sreevatsa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pic>
        <p:nvPicPr>
          <p:cNvPr id="95" name="Google Shape;95;p14" title="1.jpg"/>
          <p:cNvPicPr preferRelativeResize="0"/>
          <p:nvPr/>
        </p:nvPicPr>
        <p:blipFill rotWithShape="1">
          <a:blip r:embed="rId4">
            <a:alphaModFix/>
          </a:blip>
          <a:srcRect b="0" l="17969" r="17969" t="0"/>
          <a:stretch/>
        </p:blipFill>
        <p:spPr>
          <a:xfrm>
            <a:off x="6334125" y="0"/>
            <a:ext cx="58578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695450"/>
            <a:ext cx="5286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50"/>
              <a:buFont typeface="Times New Roman"/>
              <a:buChar char="●"/>
            </a:pPr>
            <a:r>
              <a:rPr i="0" lang="en-US" sz="16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is a modern e-learning platform designed to provide a seamless and interactive educational experience.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13475" y="3082730"/>
            <a:ext cx="52863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50"/>
              <a:buFont typeface="Times New Roman"/>
              <a:buChar char="●"/>
            </a:pPr>
            <a:r>
              <a:rPr i="0" lang="en-US" sz="16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addresses the growing need for accessible, flexible, and robust online learning systems. By leveraging the power of the Java Spring Boot framework, it aims to deliver a secure, scalable, and maintainable solution for students and instructors alike.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2190750" y="2002550"/>
            <a:ext cx="81915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B21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 Learning:</a:t>
            </a:r>
            <a:r>
              <a:rPr i="0" lang="en-US" sz="17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create a single, unified platform for students and instructors to manage and access course content.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190750" y="2953900"/>
            <a:ext cx="81915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B21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Security:</a:t>
            </a:r>
            <a:r>
              <a:rPr i="0" lang="en-US" sz="17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 robust user authentication and authorization for different roles (Student, Instructor, Admin).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190750" y="3905250"/>
            <a:ext cx="87588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B21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Scalable System:</a:t>
            </a:r>
            <a:r>
              <a:rPr i="0" lang="en-US" sz="18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Utilize Spring Boot and MySQL to create a</a:t>
            </a:r>
            <a:r>
              <a:rPr lang="en-US" sz="18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8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high-performance, scalable backend architecture.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190750" y="5001575"/>
            <a:ext cx="81915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B21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User Experience:</a:t>
            </a:r>
            <a:r>
              <a:rPr i="0" lang="en-US" sz="17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 a user-friendly and responsive interface with HTML &amp; CSS for easy navigation and interaction.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2196422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3150" y="314777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3150" y="4023750"/>
            <a:ext cx="344650" cy="275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23150" y="5063700"/>
            <a:ext cx="344650" cy="275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title="er diagram.jpg"/>
          <p:cNvPicPr preferRelativeResize="0"/>
          <p:nvPr/>
        </p:nvPicPr>
        <p:blipFill rotWithShape="1">
          <a:blip r:embed="rId3">
            <a:alphaModFix/>
          </a:blip>
          <a:srcRect b="3615" l="0" r="0" t="2231"/>
          <a:stretch/>
        </p:blipFill>
        <p:spPr>
          <a:xfrm>
            <a:off x="1063725" y="1165725"/>
            <a:ext cx="9349424" cy="5209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Entity - Relation (ER) DIagram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10079675" y="861225"/>
            <a:ext cx="406200" cy="28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10340625" y="3587050"/>
            <a:ext cx="261000" cy="7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619750" y="2724150"/>
            <a:ext cx="952500" cy="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612" y="1225975"/>
            <a:ext cx="9920775" cy="514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4872450" y="412025"/>
            <a:ext cx="244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OUTPUT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5619750" y="2724150"/>
            <a:ext cx="952500" cy="47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315652" y="3057525"/>
            <a:ext cx="5560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3881437" y="4105275"/>
            <a:ext cx="4429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core technologies used to build the platform.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1590913" y="3176587"/>
            <a:ext cx="13901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866775" y="3948112"/>
            <a:ext cx="28386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 and CSS3 </a:t>
            </a:r>
            <a:endParaRPr b="1" i="0" sz="1550" u="none" cap="none" strike="noStrike">
              <a:solidFill>
                <a:srgbClr val="3341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(With Thymeleaf templates) </a:t>
            </a:r>
            <a:r>
              <a:rPr i="0" lang="en-US" sz="15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building a responsive, multi-device, and user-friendly interface.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605813" y="317658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Backend (Spring Boot)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676775" y="4405312"/>
            <a:ext cx="2838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Spring Boot </a:t>
            </a:r>
            <a:r>
              <a:rPr i="0" lang="en-US" sz="15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robust REST APIs, business logic, and security..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9135903" y="3176587"/>
            <a:ext cx="1540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8486775" y="3948112"/>
            <a:ext cx="28386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</a:t>
            </a:r>
            <a:r>
              <a:rPr i="0" lang="en-US" sz="155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relational database for persistent storage of users, courses, and progress. Managed via Spring Data JPA.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150" name="Google Shape;1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4812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4812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4812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2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5375"/>
            <a:ext cx="5286375" cy="368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75374"/>
            <a:ext cx="5286375" cy="368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962025" y="2465912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Core Features Added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724650" y="2465912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Features to be Upgraded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961975" y="4799450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Student Dashboard &amp; Profile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724650" y="2942162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Advanced User Dashboard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4990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Platform Features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961963" y="5343812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MCQ Quiz System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961988" y="4273587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Course Enrollment &amp; Course Catalog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61975" y="3747700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Student Enrollment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61975" y="3021575"/>
            <a:ext cx="35067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Multi - Role User Authentication (Student, Instructor)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724600" y="3331325"/>
            <a:ext cx="450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Content Delivery Module (e.g., Videos, PDFs, Notes etc.,)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724600" y="4075725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Automated Certificate Generation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724650" y="4519887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Task Submission System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724600" y="4929512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Instructor Dashboard Handling Student Details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724650" y="5339137"/>
            <a:ext cx="450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Security Enhancements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507968" y="414337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AI Personalization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4629150"/>
            <a:ext cx="283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an AI engine for adaptive learning paths and personalized course recommendations.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3343888" y="23431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Mobile Application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3176275" y="2828925"/>
            <a:ext cx="3003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native Android and iOS apps for a seamless mobile learning (m-learning) experience.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6179808" y="4143375"/>
            <a:ext cx="266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Payment Gateway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9015728" y="23431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Advanced Analytics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9079259" y="2828925"/>
            <a:ext cx="2541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data analytics module for instructors to track student performance in detail.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Future Directions &amp; Scope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929000" y="4639650"/>
            <a:ext cx="3003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a Payment Gateway will transform this platform to a Full-featured Commercial E-Learning Marketplace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485775" y="4233862"/>
            <a:ext cx="36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Corporate Training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4843462"/>
            <a:ext cx="3429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Onboarding new employees and upskilling existing teams within an organization.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4295775" y="4233862"/>
            <a:ext cx="36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Educational Institutions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4381500" y="4843462"/>
            <a:ext cx="3429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Supplementing in-class learning for schools and universities (blended learning).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8105775" y="4233850"/>
            <a:ext cx="38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Commercial</a:t>
            </a:r>
            <a:r>
              <a:rPr lang="en-US" sz="2400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4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Academies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8191500" y="4793662"/>
            <a:ext cx="342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 public marketplace for private tutors and professional certification programs.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2" title="2.jpeg"/>
          <p:cNvPicPr preferRelativeResize="0"/>
          <p:nvPr/>
        </p:nvPicPr>
        <p:blipFill rotWithShape="1">
          <a:blip r:embed="rId4">
            <a:alphaModFix/>
          </a:blip>
          <a:srcRect b="941" l="0" r="0" t="941"/>
          <a:stretch/>
        </p:blipFill>
        <p:spPr>
          <a:xfrm>
            <a:off x="571500" y="19002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title="3.png"/>
          <p:cNvPicPr preferRelativeResize="0"/>
          <p:nvPr/>
        </p:nvPicPr>
        <p:blipFill rotWithShape="1">
          <a:blip r:embed="rId5">
            <a:alphaModFix/>
          </a:blip>
          <a:srcRect b="0" l="8739" r="8731" t="0"/>
          <a:stretch/>
        </p:blipFill>
        <p:spPr>
          <a:xfrm>
            <a:off x="4381500" y="19002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title="4.jpg"/>
          <p:cNvPicPr preferRelativeResize="0"/>
          <p:nvPr/>
        </p:nvPicPr>
        <p:blipFill rotWithShape="1">
          <a:blip r:embed="rId6">
            <a:alphaModFix/>
          </a:blip>
          <a:srcRect b="0" l="6926" r="6918" t="0"/>
          <a:stretch/>
        </p:blipFill>
        <p:spPr>
          <a:xfrm>
            <a:off x="8191500" y="1900237"/>
            <a:ext cx="3429001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Where It Can Be Implemented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2057400" y="2033885"/>
            <a:ext cx="8077200" cy="3199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This Java-based e-learning platform provides a scalable, secure, and feature-rich foundation for the future of online education.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1581150" y="231963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A7F3D0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0334625" y="513844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A7F3D0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295275" y="249078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B214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3640337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Any 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